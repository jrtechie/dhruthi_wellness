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07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7C4A9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023360"/>
            <a:ext cx="5943600" cy="5943600"/>
          </a:xfrm>
          <a:prstGeom prst="ellipse">
            <a:avLst/>
          </a:prstGeom>
          <a:solidFill>
            <a:srgbClr val="C21E6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879438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THE 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0108" y="2532081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F0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Weight Loss for PCOD, Diabetes, Blood Pressure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F0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Other Medical Conditions</a:t>
            </a:r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3" y="78217"/>
            <a:ext cx="940845" cy="9408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Shape 5"/>
          <p:cNvSpPr/>
          <p:nvPr/>
        </p:nvSpPr>
        <p:spPr>
          <a:xfrm>
            <a:off x="4999258" y="4023360"/>
            <a:ext cx="1527048" cy="0"/>
          </a:xfrm>
          <a:prstGeom prst="line">
            <a:avLst/>
          </a:prstGeom>
          <a:noFill/>
          <a:ln w="25400">
            <a:solidFill>
              <a:srgbClr val="C21E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6673" y="4565277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BDD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Clinical, Condition-Aware Approach to Weight Management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7026" y="5574254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Dt. Swetha Gangadhari  •  Founder &amp; Chief Dietitian, SK Nutricare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BDD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Weight Gain — Where It Really Starts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 happens when the body stores more energy than it uses — but it’s rarely just about “eating too much.” Hormones, metabolism, sleep, stress and certain medical conditions all quietly tip that balance over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4A1C3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71700"/>
            <a:ext cx="502920" cy="50292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7" name="Image 0" descr="/home/claude/ppt/assets/icons/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223205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 Factor: after 30, metabolism slows roughly 1–2% per decade while muscle mass declines — so the same diet that once maintained your weight can slowly add it on, often with no change in habits at all.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Triggering Points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45643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1" descr="/home/claude/ppt/assets/icons/c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3513491"/>
            <a:ext cx="361371" cy="3613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41071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Lifestyle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398678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working hours &amp; minimal movement slow calorie burn.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22064" y="345643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5" name="Image 2" descr="/home/claude/ppt/assets/icons/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123" y="3513491"/>
            <a:ext cx="361371" cy="361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16424" y="341071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&amp; High Stress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322064" y="398678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spikes increase cravings and abdominal fat storage.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095488" y="345643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9" name="Image 3" descr="/home/claude/ppt/assets/icons/utensi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547" y="3513491"/>
            <a:ext cx="361371" cy="36137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9848" y="341071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&amp; Sugary Foods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095488" y="398678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carbs spike insulin and promote fat storage.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8640" y="487375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3" name="Image 4" descr="/home/claude/ppt/assets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699" y="4930811"/>
            <a:ext cx="361371" cy="36137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82803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Shifts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540410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PCOD, thyroid &amp; menopause disrupt metabolism and appetite.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22064" y="487375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7" name="Image 5" descr="/home/claude/ppt/assets/icons/pil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123" y="4930811"/>
            <a:ext cx="361371" cy="36137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16424" y="482803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Medications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322064" y="540410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steroid &amp; insulin medications can cause weight gain.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8095488" y="4873752"/>
            <a:ext cx="475488" cy="47548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31" name="Image 6" descr="/home/claude/ppt/assets/icons/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547" y="4930811"/>
            <a:ext cx="361371" cy="36137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689848" y="482803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Slowdown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095488" y="5404104"/>
            <a:ext cx="354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mass &amp; metabolic rate naturally decline after 30.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BDD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Not Losing Weight — Even Though You’re "Doing Everything Right"?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58368" cy="65836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5" name="Image 0" descr="/home/claude/ppt/assets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" y="1816364"/>
            <a:ext cx="500360" cy="50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PCOD &amp; hormonal imbalance make the body hold onto fat, no matter how little you eat.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658368" cy="65836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8" name="Image 1" descr="/home/claude/ppt/assets/icons/t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84" y="2867924"/>
            <a:ext cx="500360" cy="50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43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&amp; insulin resistance turn every meal into a blood-sugar spike-and-crash cycle.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840480"/>
            <a:ext cx="658368" cy="65836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2" descr="/home/claude/ppt/assets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84" y="3919484"/>
            <a:ext cx="500360" cy="500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794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medication &amp; stress hormones quietly slow the metabolism down.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892040"/>
            <a:ext cx="658368" cy="65836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4" name="Image 3" descr="/home/claude/ppt/assets/icons/notesmed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84" y="4971044"/>
            <a:ext cx="500360" cy="500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846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"eat less, move more" diets ignore the medical condition driving the weight gain.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2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exactly why we built a program that treats the condition — not just the number on the scale.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A1C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Not a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Calorie Problem.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Metabolic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is regulated by hormones, insulin sensitivity, and metabolic rate — not willpower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685800"/>
            <a:ext cx="566928" cy="566928"/>
          </a:xfrm>
          <a:prstGeom prst="ellipse">
            <a:avLst/>
          </a:prstGeom>
          <a:solidFill>
            <a:srgbClr val="F3D9E8"/>
          </a:solidFill>
          <a:ln/>
        </p:spPr>
      </p:sp>
      <p:pic>
        <p:nvPicPr>
          <p:cNvPr id="6" name="Image 0" descr="/home/claude/ppt/assets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951" y="75383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70448" y="640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70448" y="10149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insulin signals the body to store fat instead of burning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74920" y="2103120"/>
            <a:ext cx="566928" cy="566928"/>
          </a:xfrm>
          <a:prstGeom prst="ellipse">
            <a:avLst/>
          </a:prstGeom>
          <a:solidFill>
            <a:srgbClr val="F3D9E8"/>
          </a:solidFill>
          <a:ln/>
        </p:spPr>
      </p:sp>
      <p:pic>
        <p:nvPicPr>
          <p:cNvPr id="10" name="Image 1" descr="/home/claude/ppt/assets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951" y="2171151"/>
            <a:ext cx="430865" cy="4308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0448" y="2057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Imbalance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870448" y="243230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PCOD and thyroid disruptions slow metabolism and increase cravings.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74920" y="3520440"/>
            <a:ext cx="566928" cy="566928"/>
          </a:xfrm>
          <a:prstGeom prst="ellipse">
            <a:avLst/>
          </a:prstGeom>
          <a:solidFill>
            <a:srgbClr val="F3D9E8"/>
          </a:solidFill>
          <a:ln/>
        </p:spPr>
      </p:sp>
      <p:pic>
        <p:nvPicPr>
          <p:cNvPr id="14" name="Image 2" descr="/home/claude/ppt/assets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951" y="3588471"/>
            <a:ext cx="430865" cy="4308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70448" y="3474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 &amp; Cortisol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870448" y="384962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cortisol from BP and stress promotes abdominal fat storage.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74920" y="4937760"/>
            <a:ext cx="566928" cy="566928"/>
          </a:xfrm>
          <a:prstGeom prst="ellipse">
            <a:avLst/>
          </a:prstGeom>
          <a:solidFill>
            <a:srgbClr val="F3D9E8"/>
          </a:solidFill>
          <a:ln/>
        </p:spPr>
      </p:sp>
      <p:pic>
        <p:nvPicPr>
          <p:cNvPr id="18" name="Image 3" descr="/home/claude/ppt/assets/icons/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951" y="5005791"/>
            <a:ext cx="430865" cy="4308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70448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Diets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870448" y="526694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calorie-cutting plans ignore the medical root cause.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Gain Looks Different for Every Condition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plans start with the condition, then build the nutrition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6" name="Image 0" descr="/home/claude/ppt/assets/icons/ven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185989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647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PCOD / PCOS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 &amp; androgen excess drive stubborn weight, especially around the abdomen.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5087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83080"/>
            <a:ext cx="640080" cy="64008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1" descr="/home/claude/ppt/assets/icons/t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610" y="185989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647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/ Prediabetes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spikes trigger fat storage and constant hunger and sugar cravings.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6" name="Image 2" descr="/home/claude/ppt/assets/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70" y="432877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retention, stress hormones and some medications cause water weight &amp; slower metabolism.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51960"/>
            <a:ext cx="640080" cy="64008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1" name="Image 3" descr="/home/claude/ppt/assets/icons/notesmed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610" y="432877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33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Conditions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00800" y="5029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disorders, PCOS-adjacent issues, joint pain &amp; slow metabolism need tailored plans.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Metabolic Reset Method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BDD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signature 6-month framework, built around your medical profile.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834640"/>
            <a:ext cx="10607040" cy="0"/>
          </a:xfrm>
          <a:prstGeom prst="line">
            <a:avLst/>
          </a:prstGeom>
          <a:noFill/>
          <a:ln w="19050">
            <a:solidFill>
              <a:srgbClr val="7C4A9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33856" y="2331720"/>
            <a:ext cx="1005840" cy="100584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6" name="Image 0" descr="/home/claude/ppt/assets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557" y="2452421"/>
            <a:ext cx="764438" cy="7644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2212848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1E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93192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history, labs &amp; lifestyle evaluation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2331720"/>
            <a:ext cx="1005840" cy="100584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12" name="Image 1" descr="/home/claude/ppt/assets/icons/userm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549" y="2452421"/>
            <a:ext cx="764438" cy="76443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50792" y="2212848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1E6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50792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474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16352" y="393192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video consult with your dietitian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77840" y="2331720"/>
            <a:ext cx="1005840" cy="100584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18" name="Image 2" descr="/home/claude/ppt/assets/icons/ap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541" y="2452421"/>
            <a:ext cx="764438" cy="76443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72784" y="2212848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1E6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72784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92624" y="3474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38344" y="393192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Condition-specific diet charts, monthly updates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799832" y="2331720"/>
            <a:ext cx="1005840" cy="100584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24" name="Image 3" descr="/home/claude/ppt/assets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533" y="2452421"/>
            <a:ext cx="764438" cy="76443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494776" y="2212848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1E6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94776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14616" y="3474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260336" y="393192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follow-ups &amp; progress tracking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021824" y="2331720"/>
            <a:ext cx="1005840" cy="1005840"/>
          </a:xfrm>
          <a:prstGeom prst="ellipse">
            <a:avLst/>
          </a:prstGeom>
          <a:solidFill>
            <a:srgbClr val="C21E6D"/>
          </a:solidFill>
          <a:ln/>
        </p:spPr>
      </p:sp>
      <p:pic>
        <p:nvPicPr>
          <p:cNvPr id="30" name="Image 4" descr="/home/claude/ppt/assets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25" y="2452421"/>
            <a:ext cx="764438" cy="76443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716768" y="2212848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1E6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716768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436608" y="3474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Coaching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482328" y="393192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lifestyle for lasting results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Included in Your Program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4" name="Image 0" descr="/home/claude/ppt/assets/icons/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130576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Personalized Nutrition Plan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325880" y="15819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to your condition, body composition &amp; goals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8" name="Image 1" descr="/home/claude/ppt/assets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523" y="130576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Charts Every 2 Weeks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949440" y="15819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updated charts a month based on your progress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2" name="Image 2" descr="/home/claude/ppt/assets/icons/userm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299740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Dietitian Follow-Up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325880" y="32735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consultation a week to monitor and optimize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2200" y="292608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6" name="Image 3" descr="/home/claude/ppt/assets/icons/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523" y="2997403"/>
            <a:ext cx="451714" cy="4517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Chat Support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949440" y="32735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during working hours for questions &amp; swaps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61772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0" name="Image 4" descr="/home/claude/ppt/assets/icons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" y="4689043"/>
            <a:ext cx="451714" cy="45171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Health Monitoring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325880" y="49651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tracking with dietary adjustments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72200" y="4617720"/>
            <a:ext cx="594360" cy="59436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4" name="Image 5" descr="/home/claude/ppt/assets/icons/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523" y="4689043"/>
            <a:ext cx="451714" cy="45171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Habit Coaching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6949440" y="49651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stress, hydration &amp; sustainable lifestyle habits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1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 Nutricare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BDD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personal health companion — track, chat, and stay on plan every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17720" y="64008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00600" y="92354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7" name="Image 0" descr="/home/claude/ppt/assets/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215" y="998159"/>
            <a:ext cx="472562" cy="472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32120" y="640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Tracking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0" y="64008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0" y="92354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1" descr="/home/claude/ppt/assets/icons/t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095" y="998159"/>
            <a:ext cx="472562" cy="472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0" y="640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617720" y="20574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0600" y="234086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5" name="Image 2" descr="/home/claude/ppt/assets/icons/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215" y="2415479"/>
            <a:ext cx="472562" cy="4725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32120" y="2057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Tracker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0" y="20574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0" y="234086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9" name="Image 3" descr="/home/claude/ppt/assets/icons/shoepri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095" y="2415479"/>
            <a:ext cx="472562" cy="4725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Tracker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617720" y="34747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00600" y="375818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3" name="Image 4" descr="/home/claude/ppt/assets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215" y="3832799"/>
            <a:ext cx="472562" cy="4725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32120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229600" y="34747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0" y="375818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7" name="Image 5" descr="/home/claude/ppt/assets/icons/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095" y="3832799"/>
            <a:ext cx="472562" cy="4725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44000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Consultations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4617720" y="48920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800600" y="517550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31" name="Image 6" descr="/home/claude/ppt/assets/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215" y="5250119"/>
            <a:ext cx="472562" cy="47256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532120" y="4892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Meal Reminders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8229600" y="48920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412480" y="5175504"/>
            <a:ext cx="621792" cy="621792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35" name="Image 7" descr="/home/claude/ppt/assets/icons/commen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7095" y="5250119"/>
            <a:ext cx="472562" cy="47256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44000" y="4892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Dietitian Chat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Program Right for You?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program is ideal if you’re managing any of the following: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5" name="Image 0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6" y="1646286"/>
            <a:ext cx="291876" cy="2918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72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&amp; Hormonal Imbalance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8" name="Image 1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6" y="2542398"/>
            <a:ext cx="291876" cy="2918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Disorders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2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6" y="3438510"/>
            <a:ext cx="291876" cy="2918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3649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Prediabetes &amp; Type 2 Diabetes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288536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4" name="Image 3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6" y="4334622"/>
            <a:ext cx="291876" cy="2918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2611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Blood Pressure (Hypertension)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309360" y="1600200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7" name="Image 4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6" y="1646286"/>
            <a:ext cx="291876" cy="2918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0" y="1572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309360" y="2496312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0" name="Image 5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6" y="2542398"/>
            <a:ext cx="291876" cy="2918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Metabolism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309360" y="3392424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3" name="Image 6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6" y="3438510"/>
            <a:ext cx="291876" cy="29187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0" y="33649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Management with Medical Conditions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6309360" y="4288536"/>
            <a:ext cx="384048" cy="384048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6" name="Image 7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6" y="4334622"/>
            <a:ext cx="291876" cy="29187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58000" y="42611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Lifestyle Transformation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DDEA"/>
          </a:solidFill>
          <a:ln/>
        </p:spPr>
      </p:sp>
      <p:sp>
        <p:nvSpPr>
          <p:cNvPr id="29" name="Text 19"/>
          <p:cNvSpPr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any of this sounds familiar — this program is designed specifically for you.</a:t>
            </a:r>
            <a:endParaRPr lang="en-US" sz="1500" dirty="0"/>
          </a:p>
        </p:txBody>
      </p:sp>
      <p:sp>
        <p:nvSpPr>
          <p:cNvPr id="30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120640" cy="5120640"/>
          </a:xfrm>
          <a:prstGeom prst="ellipse">
            <a:avLst/>
          </a:prstGeom>
          <a:solidFill>
            <a:srgbClr val="7C4A9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234440"/>
            <a:ext cx="3291840" cy="3291840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4" name="Image 0" descr="/home/claude/ppt/assets/docto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71600"/>
            <a:ext cx="3017520" cy="3017520"/>
          </a:xfrm>
          <a:prstGeom prst="ellipse">
            <a:avLst/>
          </a:prstGeom>
        </p:spPr>
      </p:pic>
      <p:pic>
        <p:nvPicPr>
          <p:cNvPr id="5" name="Image 1" descr="/home/claude/ppt/assets/icons/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1430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9160" y="17373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“Good nutrition isn’t about restriction — it’s about creating sustainable habits that transform your health, whatever condition you’re managing.”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709160" y="3429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Dt. Swetha Gangadhari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709160" y="3840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Dietitian, SK Nutricare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709160" y="4434840"/>
            <a:ext cx="2896583" cy="457200"/>
          </a:xfrm>
          <a:prstGeom prst="roundRect">
            <a:avLst>
              <a:gd name="adj" fmla="val 50000"/>
            </a:avLst>
          </a:prstGeom>
          <a:solidFill>
            <a:srgbClr val="7C4A9E"/>
          </a:solidFill>
          <a:ln/>
        </p:spPr>
      </p:sp>
      <p:sp>
        <p:nvSpPr>
          <p:cNvPr id="10" name="Text 6"/>
          <p:cNvSpPr/>
          <p:nvPr/>
        </p:nvSpPr>
        <p:spPr>
          <a:xfrm>
            <a:off x="4709160" y="4434840"/>
            <a:ext cx="2896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Nutrition Focus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788623" y="4434840"/>
            <a:ext cx="3144356" cy="457200"/>
          </a:xfrm>
          <a:prstGeom prst="roundRect">
            <a:avLst>
              <a:gd name="adj" fmla="val 50000"/>
            </a:avLst>
          </a:prstGeom>
          <a:solidFill>
            <a:srgbClr val="7C4A9E"/>
          </a:solidFill>
          <a:ln/>
        </p:spPr>
      </p:sp>
      <p:sp>
        <p:nvSpPr>
          <p:cNvPr id="12" name="Text 8"/>
          <p:cNvSpPr/>
          <p:nvPr/>
        </p:nvSpPr>
        <p:spPr>
          <a:xfrm>
            <a:off x="7788623" y="4434840"/>
            <a:ext cx="3144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Condition-Specific Planning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1115859" y="4434840"/>
            <a:ext cx="2566219" cy="457200"/>
          </a:xfrm>
          <a:prstGeom prst="roundRect">
            <a:avLst>
              <a:gd name="adj" fmla="val 50000"/>
            </a:avLst>
          </a:prstGeom>
          <a:solidFill>
            <a:srgbClr val="7C4A9E"/>
          </a:solidFill>
          <a:ln/>
        </p:spPr>
      </p:sp>
      <p:sp>
        <p:nvSpPr>
          <p:cNvPr id="14" name="Text 10"/>
          <p:cNvSpPr/>
          <p:nvPr/>
        </p:nvSpPr>
        <p:spPr>
          <a:xfrm>
            <a:off x="11115859" y="4434840"/>
            <a:ext cx="2566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1:1 Follow-Up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Duration &amp; Investment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194560" y="1280160"/>
            <a:ext cx="777240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19456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Metabolic Weight Loss Program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94560" y="2103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C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Personalized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strike="sngStrike" dirty="0">
                <a:solidFill>
                  <a:srgbClr val="9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2200" strike="sngStrike" dirty="0" smtClean="0">
                <a:solidFill>
                  <a:srgbClr val="9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5216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 smtClean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4200" b="1" dirty="0" smtClean="0">
                <a:solidFill>
                  <a:srgbClr val="C2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9999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709160" y="35204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4A1C3D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4251960"/>
            <a:ext cx="310896" cy="310896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1" name="Image 0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08" y="4289268"/>
            <a:ext cx="236281" cy="2362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5468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dietitian follow-ups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0" y="4636008"/>
            <a:ext cx="310896" cy="310896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4" name="Image 1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08" y="4673316"/>
            <a:ext cx="236281" cy="23628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45902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chat support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743200" y="5020056"/>
            <a:ext cx="310896" cy="310896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17" name="Image 2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08" y="5057364"/>
            <a:ext cx="236281" cy="2362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54680" y="49743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access included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743200" y="5404104"/>
            <a:ext cx="310896" cy="310896"/>
          </a:xfrm>
          <a:prstGeom prst="ellipse">
            <a:avLst/>
          </a:prstGeom>
          <a:solidFill>
            <a:srgbClr val="FBDDEA"/>
          </a:solidFill>
          <a:ln/>
        </p:spPr>
      </p:sp>
      <p:pic>
        <p:nvPicPr>
          <p:cNvPr id="20" name="Image 3" descr="/home/claude/ppt/assets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08" y="5441412"/>
            <a:ext cx="236281" cy="2362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54680" y="53583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pause up to 30 days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NUTRICARE  |  Metabolic Weight Loss Program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547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C21E6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029200" cy="5029200"/>
          </a:xfrm>
          <a:prstGeom prst="ellipse">
            <a:avLst/>
          </a:prstGeom>
          <a:solidFill>
            <a:srgbClr val="7C4A9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Your Transformation Today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219456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BDD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changes today, transform your tomorrow.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2971800"/>
            <a:ext cx="3227832" cy="594360"/>
          </a:xfrm>
          <a:prstGeom prst="roundRect">
            <a:avLst>
              <a:gd name="adj" fmla="val 49231"/>
            </a:avLst>
          </a:prstGeom>
          <a:solidFill>
            <a:srgbClr val="C21E6D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297180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Consultation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4114800"/>
            <a:ext cx="457200" cy="457200"/>
          </a:xfrm>
          <a:prstGeom prst="ellipse">
            <a:avLst/>
          </a:prstGeom>
          <a:solidFill>
            <a:srgbClr val="7C4A9E"/>
          </a:solidFill>
          <a:ln/>
        </p:spPr>
      </p:sp>
      <p:pic>
        <p:nvPicPr>
          <p:cNvPr id="9" name="Image 0" descr="/home/claude/ppt/assets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416966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33088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sknutricare.in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4114800"/>
            <a:ext cx="457200" cy="457200"/>
          </a:xfrm>
          <a:prstGeom prst="ellipse">
            <a:avLst/>
          </a:prstGeom>
          <a:solidFill>
            <a:srgbClr val="7C4A9E"/>
          </a:solidFill>
          <a:ln/>
        </p:spPr>
      </p:sp>
      <p:pic>
        <p:nvPicPr>
          <p:cNvPr id="12" name="Image 1" descr="/home/claude/ppt/assets/icons/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41696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@sknutricare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598932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9B7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Nourishing Health, Transforming Lives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899</Words>
  <Application>Microsoft Office PowerPoint</Application>
  <PresentationFormat>Widescreen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2026-07-18T05:46:50Z</dcterms:created>
  <dcterms:modified xsi:type="dcterms:W3CDTF">2026-07-18T05:54:49Z</dcterms:modified>
</cp:coreProperties>
</file>